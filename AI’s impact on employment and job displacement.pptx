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E0C2E1-5CC7-4F13-95BF-DED51E1ADF71}" type="datetimeFigureOut">
              <a:rPr lang="en-CA" smtClean="0"/>
              <a:t>2026-04-03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D97C7-A869-418B-BB4C-7D3A427E0675}" type="slidenum">
              <a:rPr lang="en-CA" smtClean="0"/>
              <a:t>‹#›</a:t>
            </a:fld>
            <a:endParaRPr lang="en-CA"/>
          </a:p>
        </p:txBody>
      </p:sp>
    </p:spTree>
    <p:extLst>
      <p:ext uri="{BB962C8B-B14F-4D97-AF65-F5344CB8AC3E}">
        <p14:creationId xmlns:p14="http://schemas.microsoft.com/office/powerpoint/2010/main" val="3685395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Image source: Microsoft 365 content library
The rise of artificial intelligence is often compared to major technological shifts like the Industrial Revolution, the computer age, and the internet era. AI introduces transformative opportunities such as increased efficiency and innovation. However, it also presents challenges for the labor market, including job displacement and the need for new skills.</a:t>
            </a:r>
          </a:p>
        </p:txBody>
      </p:sp>
      <p:sp>
        <p:nvSpPr>
          <p:cNvPr id="4" name="Slide Number Placeholder 3"/>
          <p:cNvSpPr>
            <a:spLocks noGrp="1"/>
          </p:cNvSpPr>
          <p:nvPr>
            <p:ph type="sldNum" sz="quarter" idx="5"/>
          </p:nvPr>
        </p:nvSpPr>
        <p:spPr/>
        <p:txBody>
          <a:bodyPr/>
          <a:lstStyle/>
          <a:p>
            <a:fld id="{89E202E9-CCB9-449C-95E9-A33E683EB47E}" type="slidenum">
              <a:rPr lang="en-CA" smtClean="0"/>
              <a:t>1</a:t>
            </a:fld>
            <a:endParaRPr lang="en-CA"/>
          </a:p>
        </p:txBody>
      </p:sp>
    </p:spTree>
    <p:extLst>
      <p:ext uri="{BB962C8B-B14F-4D97-AF65-F5344CB8AC3E}">
        <p14:creationId xmlns:p14="http://schemas.microsoft.com/office/powerpoint/2010/main" val="1859643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460DC-72FB-C302-AC87-03D5D04822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F2932EA-B078-CC36-5CCB-4AE7EE4EED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47313D1-AE6C-A4B5-F81D-5783CAC97725}"/>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0B4A9EE0-9EC6-4232-0009-78788067A05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4D7C6E1-63C3-B4B5-EB44-576F95CF3153}"/>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2213428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B01C-8750-00A4-B9E7-CBA4D7C4AC4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072A287-2D7D-5722-CC62-DDDCEAC9D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97213C1-2133-4BF5-0A5A-8A466A8E8BA3}"/>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6F98D7B0-E12C-43CA-788F-71504F1B522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1860DA-2C6F-5163-811C-3BC9E7B3A334}"/>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61447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B0BCB-1F39-27AC-B435-E209BC21B4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8D50CEC-0100-B1BA-8E2C-CBC2940CEE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65B84-D5F8-FB6A-D29B-7A096E4923B0}"/>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6FFB331F-7B67-2E26-7D0E-B28495ABD4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94127DB-54BD-74AD-D3FF-E2779F00E0F2}"/>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2338784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6B1F-26EA-5F57-6F75-C9AF728CAA5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B7222B8-BC84-A6D9-0618-42CB9170FF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AEC78FE-0DB4-42C8-DEFF-E5F9BB4869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5C1E111-B8EF-A485-BAB6-013C90C2D8D2}"/>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6" name="Footer Placeholder 5">
            <a:extLst>
              <a:ext uri="{FF2B5EF4-FFF2-40B4-BE49-F238E27FC236}">
                <a16:creationId xmlns:a16="http://schemas.microsoft.com/office/drawing/2014/main" id="{917E7DCE-A989-AB4C-AA17-5DA0F5F82D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6C88B51-BF51-6660-269D-C187EC81895F}"/>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346739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AB949-373D-8832-5294-528ED3E14D1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04965AB-8CDF-BCB4-6FFC-E583BBDBE0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815E85-523F-89A7-2BFD-4E41B9C60C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444058E-E28C-2122-EBAF-574C50DE4A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E6BF42-7A71-07A4-5BEE-CA37F700E6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E9068E8-CED7-A988-ACC6-84EB6BE07955}"/>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8" name="Footer Placeholder 7">
            <a:extLst>
              <a:ext uri="{FF2B5EF4-FFF2-40B4-BE49-F238E27FC236}">
                <a16:creationId xmlns:a16="http://schemas.microsoft.com/office/drawing/2014/main" id="{3FC8F1F1-950E-1571-19FD-F0B2A80B7A43}"/>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5BBE057-663B-1D3E-0FC8-B747CD4BF336}"/>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102413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42BB-E503-3EAF-4C48-1466D3B399D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05AEB04-FF50-1435-AEB8-C67CE567057C}"/>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4" name="Footer Placeholder 3">
            <a:extLst>
              <a:ext uri="{FF2B5EF4-FFF2-40B4-BE49-F238E27FC236}">
                <a16:creationId xmlns:a16="http://schemas.microsoft.com/office/drawing/2014/main" id="{1D84712D-C1DA-E336-1B6B-5B792AC02BA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7C087F3-67C6-AD5E-D83C-292AE18DC729}"/>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86735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A0DF5-1865-6B16-6BD9-CC27D0BF57D2}"/>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3" name="Footer Placeholder 2">
            <a:extLst>
              <a:ext uri="{FF2B5EF4-FFF2-40B4-BE49-F238E27FC236}">
                <a16:creationId xmlns:a16="http://schemas.microsoft.com/office/drawing/2014/main" id="{C324FA9A-A7CE-3364-9010-8387415D5B67}"/>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7082441-4A60-567D-BA33-586CB34DDFB9}"/>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462100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4019-639F-43DE-E841-BD2E1C79B8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C40C4DA-C7B4-C960-5BC7-DFCEE2D4D9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E8AC6DF-3D08-0908-99D8-68C939ABB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899B45-068B-2F6A-4B15-4A5022F08547}"/>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6" name="Footer Placeholder 5">
            <a:extLst>
              <a:ext uri="{FF2B5EF4-FFF2-40B4-BE49-F238E27FC236}">
                <a16:creationId xmlns:a16="http://schemas.microsoft.com/office/drawing/2014/main" id="{7067C636-6270-A880-2C0B-707FD36CC1C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87C250C-B830-CC24-47CC-7C591D40ECEA}"/>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2298204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41F6-FDAD-AF5B-7A17-6F884AC7D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DB51E2A-F6CB-F02B-BBBF-F5C0C58B4A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0AAB769-AA6F-D9B8-5176-8DF38884BA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8D6944-E271-3C8D-D9CB-61D6D3AC6922}"/>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6" name="Footer Placeholder 5">
            <a:extLst>
              <a:ext uri="{FF2B5EF4-FFF2-40B4-BE49-F238E27FC236}">
                <a16:creationId xmlns:a16="http://schemas.microsoft.com/office/drawing/2014/main" id="{20B3FCC9-C968-49FD-8198-B24C2E4145B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9DBCFBB-B1EF-491A-A695-F470942C2844}"/>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635480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3BDE8-E997-CD90-D9EA-3AE8F718049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5F8DD80-6581-6BB1-14A2-6B21205577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4CF8117-CFD2-0A9A-949B-465D9B130D4A}"/>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AC765E5B-1D4A-0980-8259-7AC7899C3DB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8C9B2DD-3E4C-7A37-9284-0ECE9C0158D3}"/>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4161337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3FC2E-F1BB-0948-CAFA-E9003A4F24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616DA00-0CB1-8ECA-0358-CFA3652AB6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9289C77-B225-4E3C-C775-182EC05B62DE}"/>
              </a:ext>
            </a:extLst>
          </p:cNvPr>
          <p:cNvSpPr>
            <a:spLocks noGrp="1"/>
          </p:cNvSpPr>
          <p:nvPr>
            <p:ph type="dt" sz="half" idx="10"/>
          </p:nvPr>
        </p:nvSpPr>
        <p:spPr/>
        <p:txBody>
          <a:body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3CC04913-E593-A578-367B-F281331D692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D44EC41-3F88-BA27-9EC8-48E74D649CFD}"/>
              </a:ext>
            </a:extLst>
          </p:cNvPr>
          <p:cNvSpPr>
            <a:spLocks noGrp="1"/>
          </p:cNvSpPr>
          <p:nvPr>
            <p:ph type="sldNum" sz="quarter" idx="12"/>
          </p:nvPr>
        </p:nvSpPr>
        <p:spPr/>
        <p:txBody>
          <a:bodyPr/>
          <a:lstStyle/>
          <a:p>
            <a:fld id="{F900CEFF-5777-4AEC-A78D-A3F590E21C07}" type="slidenum">
              <a:rPr lang="en-CA" smtClean="0"/>
              <a:t>‹#›</a:t>
            </a:fld>
            <a:endParaRPr lang="en-CA"/>
          </a:p>
        </p:txBody>
      </p:sp>
    </p:spTree>
    <p:extLst>
      <p:ext uri="{BB962C8B-B14F-4D97-AF65-F5344CB8AC3E}">
        <p14:creationId xmlns:p14="http://schemas.microsoft.com/office/powerpoint/2010/main" val="1769278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816639-62D5-6C6D-3BCB-22F8926DE2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C56ED2F-9575-E94C-89E1-CAAC2E6F86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78DC5B3-7B16-6141-7E19-3001DE51A1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AAC4CF-F573-4D3A-9AC5-746956110658}" type="datetimeFigureOut">
              <a:rPr lang="en-CA" smtClean="0"/>
              <a:t>2026-04-03</a:t>
            </a:fld>
            <a:endParaRPr lang="en-CA"/>
          </a:p>
        </p:txBody>
      </p:sp>
      <p:sp>
        <p:nvSpPr>
          <p:cNvPr id="5" name="Footer Placeholder 4">
            <a:extLst>
              <a:ext uri="{FF2B5EF4-FFF2-40B4-BE49-F238E27FC236}">
                <a16:creationId xmlns:a16="http://schemas.microsoft.com/office/drawing/2014/main" id="{E9BDD8AB-8DA2-1E30-1A12-2E8E75E058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7E19A8E-3630-A990-10E2-5893209A3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00CEFF-5777-4AEC-A78D-A3F590E21C07}" type="slidenum">
              <a:rPr lang="en-CA" smtClean="0"/>
              <a:t>‹#›</a:t>
            </a:fld>
            <a:endParaRPr lang="en-CA"/>
          </a:p>
        </p:txBody>
      </p:sp>
    </p:spTree>
    <p:extLst>
      <p:ext uri="{BB962C8B-B14F-4D97-AF65-F5344CB8AC3E}">
        <p14:creationId xmlns:p14="http://schemas.microsoft.com/office/powerpoint/2010/main" val="2411238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2D69B-B89D-187C-AD02-310ABC611CD1}"/>
              </a:ext>
            </a:extLst>
          </p:cNvPr>
          <p:cNvSpPr>
            <a:spLocks noGrp="1"/>
          </p:cNvSpPr>
          <p:nvPr>
            <p:ph type="title"/>
          </p:nvPr>
        </p:nvSpPr>
        <p:spPr>
          <a:xfrm>
            <a:off x="549633" y="50057"/>
            <a:ext cx="11018520" cy="1434415"/>
          </a:xfrm>
        </p:spPr>
        <p:txBody>
          <a:bodyPr vert="horz" lIns="91440" tIns="45720" rIns="91440" bIns="45720" rtlCol="0" anchor="b">
            <a:normAutofit/>
          </a:bodyPr>
          <a:lstStyle/>
          <a:p>
            <a:r>
              <a:rPr lang="en-US" sz="4000" b="1" dirty="0"/>
              <a:t>AI’s impact on employment and job displacement</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BFC0C97D-1C20-6EF0-418C-EC34F83382E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382606"/>
          </a:xfrm>
        </p:spPr>
        <p:txBody>
          <a:bodyPr>
            <a:normAutofit/>
          </a:bodyPr>
          <a:lstStyle/>
          <a:p>
            <a:pPr marL="0" indent="0">
              <a:spcBef>
                <a:spcPts val="2500"/>
              </a:spcBef>
              <a:buFont typeface="Arial" panose="020B0604020202020204" pitchFamily="34" charset="0"/>
              <a:buNone/>
            </a:pPr>
            <a:r>
              <a:rPr lang="en-US" sz="2400" b="1" dirty="0"/>
              <a:t>Conclusion:</a:t>
            </a:r>
          </a:p>
          <a:p>
            <a:pPr marL="0" lvl="1" indent="0">
              <a:buNone/>
            </a:pPr>
            <a:r>
              <a:rPr lang="en-CA" sz="1600" dirty="0"/>
              <a:t>-It has been theorized that the current rise of AI is similar to past technological revolutions, much like the Industrial Revolution, the arrival of computers, or the internet. The rise of AI can present both new opportunities and challenges for the labour market.</a:t>
            </a:r>
          </a:p>
          <a:p>
            <a:pPr marL="0" lvl="1" indent="0">
              <a:buFont typeface="Arial" panose="020B0604020202020204" pitchFamily="34" charset="0"/>
              <a:buNone/>
            </a:pPr>
            <a:endParaRPr lang="en-US" sz="1400" dirty="0"/>
          </a:p>
          <a:p>
            <a:pPr marL="0" lvl="1" indent="0">
              <a:buNone/>
            </a:pPr>
            <a:r>
              <a:rPr lang="en-CA" sz="1600" dirty="0"/>
              <a:t>-But just like previous revolutions, history has shown us that humans have the capacity to rise above initial disturbances and adapt to the new reality, through creating new industries, redefining job roles, and boosting innovation and economic growth.</a:t>
            </a:r>
          </a:p>
          <a:p>
            <a:pPr marL="0" lvl="1" indent="0">
              <a:buNone/>
            </a:pPr>
            <a:endParaRPr lang="en-CA" sz="1600" dirty="0"/>
          </a:p>
          <a:p>
            <a:pPr marL="0" lvl="1" indent="0">
              <a:buNone/>
            </a:pPr>
            <a:r>
              <a:rPr lang="en-CA" sz="1600" dirty="0"/>
              <a:t>-</a:t>
            </a:r>
            <a:r>
              <a:rPr lang="en-US" sz="1600" dirty="0"/>
              <a:t>The </a:t>
            </a:r>
            <a:r>
              <a:rPr lang="en-US" sz="1600" dirty="0" err="1"/>
              <a:t>labour</a:t>
            </a:r>
            <a:r>
              <a:rPr lang="en-US" sz="1600" dirty="0"/>
              <a:t> market is adapting, and workers may need to develop new skills to remain competitive in this evolving landscape. The best outcome may be a human-AI collaboration, like the use of </a:t>
            </a:r>
            <a:r>
              <a:rPr lang="en-US" sz="1600"/>
              <a:t>AI as a tool </a:t>
            </a:r>
            <a:r>
              <a:rPr lang="en-US" sz="1600" dirty="0"/>
              <a:t>to enhance humans, </a:t>
            </a:r>
            <a:r>
              <a:rPr lang="en-US" sz="1600"/>
              <a:t>not replace them.</a:t>
            </a:r>
            <a:endParaRPr lang="en-US" sz="1600" dirty="0"/>
          </a:p>
        </p:txBody>
      </p:sp>
      <p:pic>
        <p:nvPicPr>
          <p:cNvPr id="5" name="Content Placeholder 4" descr="A robot with a face">
            <a:extLst>
              <a:ext uri="{FF2B5EF4-FFF2-40B4-BE49-F238E27FC236}">
                <a16:creationId xmlns:a16="http://schemas.microsoft.com/office/drawing/2014/main" id="{F4424C8B-24A6-48D8-BD57-6CBAF866F413}"/>
              </a:ext>
            </a:extLst>
          </p:cNvPr>
          <p:cNvPicPr>
            <a:picLocks noGrp="1" noChangeAspect="1"/>
          </p:cNvPicPr>
          <p:nvPr>
            <p:ph sz="half" idx="1"/>
          </p:nvPr>
        </p:nvPicPr>
        <p:blipFill>
          <a:blip r:embed="rId3"/>
          <a:srcRect l="32657"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570110709"/>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217</Words>
  <Application>Microsoft Office PowerPoint</Application>
  <PresentationFormat>Widescreen</PresentationFormat>
  <Paragraphs>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AI’s impact on employment and job displacement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Carlos Agustin</dc:creator>
  <cp:lastModifiedBy>Juan Carlos Agustin</cp:lastModifiedBy>
  <cp:revision>1</cp:revision>
  <dcterms:created xsi:type="dcterms:W3CDTF">2026-04-03T23:28:14Z</dcterms:created>
  <dcterms:modified xsi:type="dcterms:W3CDTF">2026-04-03T23:51:20Z</dcterms:modified>
</cp:coreProperties>
</file>